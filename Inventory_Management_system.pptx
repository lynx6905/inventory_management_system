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84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84" orient="horz"/>
        <p:guide pos="192"/>
        <p:guide pos="1080" orient="horz"/>
        <p:guide pos="2160" orient="horz"/>
        <p:guide pos="403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i="0" lang="en-IN" u="none" strike="noStrike">
                <a:solidFill>
                  <a:srgbClr val="000000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Speaker would be briefing the students that this content has been prepared for the educational purpose only and is referred from multiple sites which are cited in the last.</a:t>
            </a:r>
            <a:r>
              <a:rPr b="0" i="0" lang="en-IN" u="none" strike="noStrike">
                <a:solidFill>
                  <a:srgbClr val="000000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r>
              <a:rPr b="0" i="0" lang="en-IN">
                <a:solidFill>
                  <a:srgbClr val="444444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endParaRPr b="0" i="0">
              <a:solidFill>
                <a:srgbClr val="444444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i="0" lang="en-IN" u="none" strike="noStrike">
                <a:solidFill>
                  <a:srgbClr val="000000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---------------------------------------------------</a:t>
            </a:r>
            <a:r>
              <a:rPr b="0" i="0" lang="en-IN" u="none" strike="noStrike">
                <a:solidFill>
                  <a:srgbClr val="000000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r>
              <a:rPr b="0" i="0" lang="en-IN">
                <a:solidFill>
                  <a:srgbClr val="444444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endParaRPr b="0" i="0">
              <a:solidFill>
                <a:srgbClr val="444444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i="0" lang="en-IN" u="none" strike="noStrike">
                <a:solidFill>
                  <a:srgbClr val="000000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A disclaimer is a statement or notice that is intended to clarify, limit, or provide information about the scope, limitations, or potential risks associated with certain actions, information, products, services, or content. </a:t>
            </a:r>
            <a:r>
              <a:rPr b="0" i="0" lang="en-IN" u="none" strike="noStrike">
                <a:solidFill>
                  <a:srgbClr val="000000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r>
              <a:rPr b="0" i="0" lang="en-IN">
                <a:solidFill>
                  <a:srgbClr val="444444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endParaRPr b="0" i="0">
              <a:solidFill>
                <a:srgbClr val="444444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IN" u="none" strike="noStrike">
                <a:solidFill>
                  <a:srgbClr val="000000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r>
              <a:rPr b="0" i="0" lang="en-IN">
                <a:solidFill>
                  <a:srgbClr val="444444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endParaRPr b="0" i="0">
              <a:solidFill>
                <a:srgbClr val="444444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IN">
                <a:solidFill>
                  <a:srgbClr val="444444"/>
                </a:solidFill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endParaRPr b="0" i="0">
              <a:solidFill>
                <a:srgbClr val="444444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>
              <a:solidFill>
                <a:srgbClr val="223366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slide speaker will be introducing </a:t>
            </a:r>
            <a:r>
              <a:rPr b="1" lang="en-IN" sz="1800">
                <a:latin typeface="Arial"/>
                <a:ea typeface="Arial"/>
                <a:cs typeface="Arial"/>
                <a:sym typeface="Arial"/>
              </a:rPr>
              <a:t>the program and its outcomes.  The speaker will introduce himself in brief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59" name="Google Shape;5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73" name="Google Shape;7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79" name="Google Shape;7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85" name="Google Shape;8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91" name="Google Shape;9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f1160b7a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96" name="Google Shape;96;g3bf1160b7af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101" name="Google Shape;10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107" name="Google Shape;10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115" name="Google Shape;11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123" name="Google Shape;12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129" name="Google Shape;12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/>
              <a:t>This slide, The speaker will talk about the content that we will be covering in this session as follows: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lang="en-IN" sz="18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Importance of UI/UX in industry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and Definitions of UI and 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Differences between UI/UX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in Web Development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Design Principles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process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theory and psychology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Typography and readability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and Spacing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 basics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and Accessibility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Usability Aspects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Content Accessibility Guidelines (WCAG)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design practices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User-Centered Design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research methods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Elements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Case Study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a popular UI/UX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Figma for UI/UX 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135" name="Google Shape;13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sign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297814" y="126596"/>
            <a:ext cx="1748776" cy="584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a red and blue line&#10;&#10;Description automatically generated" id="7" name="Google Shape;7;p1"/>
          <p:cNvPicPr preferRelativeResize="0"/>
          <p:nvPr/>
        </p:nvPicPr>
        <p:blipFill rotWithShape="1">
          <a:blip r:embed="rId2">
            <a:alphaModFix/>
          </a:blip>
          <a:srcRect b="14814" l="0" r="0" t="82037"/>
          <a:stretch/>
        </p:blipFill>
        <p:spPr>
          <a:xfrm>
            <a:off x="0" y="6743065"/>
            <a:ext cx="12192000" cy="13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4648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screen with red and blue stripes&#10;&#10;Description automatically generated"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94963"/>
          <a:stretch/>
        </p:blipFill>
        <p:spPr>
          <a:xfrm>
            <a:off x="0" y="6522720"/>
            <a:ext cx="12192000" cy="3454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6.jp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 flipH="1">
            <a:off x="0" y="-197073"/>
            <a:ext cx="12192000" cy="6858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663" l="0" r="0" t="-1666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0" y="6660927"/>
            <a:ext cx="12192001" cy="197073"/>
          </a:xfrm>
          <a:custGeom>
            <a:rect b="b" l="l" r="r" t="t"/>
            <a:pathLst>
              <a:path extrusionOk="0" h="921444" w="17979397">
                <a:moveTo>
                  <a:pt x="0" y="0"/>
                </a:moveTo>
                <a:lnTo>
                  <a:pt x="17979397" y="0"/>
                </a:lnTo>
                <a:lnTo>
                  <a:pt x="17979397" y="921444"/>
                </a:lnTo>
                <a:lnTo>
                  <a:pt x="0" y="921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"/>
          <p:cNvSpPr/>
          <p:nvPr/>
        </p:nvSpPr>
        <p:spPr>
          <a:xfrm flipH="1" rot="10800000">
            <a:off x="0" y="4401147"/>
            <a:ext cx="2529579" cy="2456853"/>
          </a:xfrm>
          <a:custGeom>
            <a:rect b="b" l="l" r="r" t="t"/>
            <a:pathLst>
              <a:path extrusionOk="0" h="3685280" w="3794368">
                <a:moveTo>
                  <a:pt x="0" y="3685280"/>
                </a:moveTo>
                <a:lnTo>
                  <a:pt x="3794368" y="3685280"/>
                </a:lnTo>
                <a:lnTo>
                  <a:pt x="3794368" y="0"/>
                </a:lnTo>
                <a:lnTo>
                  <a:pt x="0" y="0"/>
                </a:lnTo>
                <a:lnTo>
                  <a:pt x="0" y="368528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/>
          <p:nvPr/>
        </p:nvSpPr>
        <p:spPr>
          <a:xfrm flipH="1">
            <a:off x="5301756" y="0"/>
            <a:ext cx="6890244" cy="6692149"/>
          </a:xfrm>
          <a:custGeom>
            <a:rect b="b" l="l" r="r" t="t"/>
            <a:pathLst>
              <a:path extrusionOk="0" h="10038224" w="10335366">
                <a:moveTo>
                  <a:pt x="10335366" y="0"/>
                </a:moveTo>
                <a:lnTo>
                  <a:pt x="0" y="0"/>
                </a:lnTo>
                <a:lnTo>
                  <a:pt x="0" y="10038224"/>
                </a:lnTo>
                <a:lnTo>
                  <a:pt x="10335366" y="10038224"/>
                </a:lnTo>
                <a:lnTo>
                  <a:pt x="10335366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6007852" y="391844"/>
            <a:ext cx="6074313" cy="6074312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 b="-9549" l="-78485" r="0" t="-95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358892" y="2584502"/>
            <a:ext cx="564895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023558"/>
                </a:solidFill>
                <a:latin typeface="Arial"/>
                <a:ea typeface="Arial"/>
                <a:cs typeface="Arial"/>
                <a:sym typeface="Arial"/>
              </a:rPr>
              <a:t>Full Stack Web Development with AI Tools</a:t>
            </a:r>
            <a:endParaRPr b="1" i="0" sz="3600" u="none" cap="none" strike="noStrike">
              <a:solidFill>
                <a:srgbClr val="0235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logo&#10;&#10;Description automatically generated" id="26" name="Google Shape;2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2861" y="388408"/>
            <a:ext cx="1926070" cy="626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/>
        </p:nvSpPr>
        <p:spPr>
          <a:xfrm>
            <a:off x="1220267" y="4289399"/>
            <a:ext cx="427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600" u="none" cap="none" strike="noStrike">
                <a:solidFill>
                  <a:srgbClr val="023558"/>
                </a:solidFill>
                <a:latin typeface="Arial"/>
                <a:ea typeface="Arial"/>
                <a:cs typeface="Arial"/>
                <a:sym typeface="Arial"/>
              </a:rPr>
              <a:t>Team Details – NG_CP_TEAM_5219</a:t>
            </a:r>
            <a:endParaRPr/>
          </a:p>
        </p:txBody>
      </p:sp>
      <p:sp>
        <p:nvSpPr>
          <p:cNvPr id="28" name="Google Shape;28;p5"/>
          <p:cNvSpPr txBox="1"/>
          <p:nvPr/>
        </p:nvSpPr>
        <p:spPr>
          <a:xfrm>
            <a:off x="1617088" y="5898012"/>
            <a:ext cx="40377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IN" sz="1400" u="none" cap="none" strike="noStrike">
                <a:solidFill>
                  <a:srgbClr val="023558"/>
                </a:solidFill>
                <a:latin typeface="Arial"/>
                <a:ea typeface="Arial"/>
                <a:cs typeface="Arial"/>
                <a:sym typeface="Arial"/>
              </a:rPr>
              <a:t>College: </a:t>
            </a:r>
            <a:r>
              <a:rPr i="1" lang="en-IN">
                <a:solidFill>
                  <a:srgbClr val="023558"/>
                </a:solidFill>
              </a:rPr>
              <a:t>Adhiparasakthi</a:t>
            </a:r>
            <a:r>
              <a:rPr b="0" i="1" lang="en-IN" sz="1400" u="none" cap="none" strike="noStrike">
                <a:solidFill>
                  <a:srgbClr val="023558"/>
                </a:solidFill>
                <a:latin typeface="Arial"/>
                <a:ea typeface="Arial"/>
                <a:cs typeface="Arial"/>
                <a:sym typeface="Arial"/>
              </a:rPr>
              <a:t> Engineering College,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IN" sz="1400" u="none" cap="none" strike="noStrike">
                <a:solidFill>
                  <a:srgbClr val="023558"/>
                </a:solidFill>
                <a:latin typeface="Arial"/>
                <a:ea typeface="Arial"/>
                <a:cs typeface="Arial"/>
                <a:sym typeface="Arial"/>
              </a:rPr>
              <a:t>Chennai</a:t>
            </a:r>
            <a:endParaRPr/>
          </a:p>
        </p:txBody>
      </p:sp>
      <p:grpSp>
        <p:nvGrpSpPr>
          <p:cNvPr id="29" name="Google Shape;29;p5"/>
          <p:cNvGrpSpPr/>
          <p:nvPr/>
        </p:nvGrpSpPr>
        <p:grpSpPr>
          <a:xfrm>
            <a:off x="995345" y="1645077"/>
            <a:ext cx="4588472" cy="742352"/>
            <a:chOff x="1283711" y="1438666"/>
            <a:chExt cx="4588472" cy="742352"/>
          </a:xfrm>
        </p:grpSpPr>
        <p:sp>
          <p:nvSpPr>
            <p:cNvPr id="30" name="Google Shape;30;p5"/>
            <p:cNvSpPr/>
            <p:nvPr/>
          </p:nvSpPr>
          <p:spPr>
            <a:xfrm>
              <a:off x="1283711" y="1438666"/>
              <a:ext cx="4588472" cy="742352"/>
            </a:xfrm>
            <a:prstGeom prst="roundRect">
              <a:avLst>
                <a:gd fmla="val 16667" name="adj"/>
              </a:avLst>
            </a:prstGeom>
            <a:solidFill>
              <a:srgbClr val="03497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5"/>
            <p:cNvSpPr txBox="1"/>
            <p:nvPr/>
          </p:nvSpPr>
          <p:spPr>
            <a:xfrm>
              <a:off x="1441240" y="1609787"/>
              <a:ext cx="427341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000" u="none" cap="none" strike="noStrike">
                  <a:solidFill>
                    <a:srgbClr val="FFE500"/>
                  </a:solidFill>
                  <a:latin typeface="Arial"/>
                  <a:ea typeface="Arial"/>
                  <a:cs typeface="Arial"/>
                  <a:sym typeface="Arial"/>
                </a:rPr>
                <a:t>Next Gen Employability Program</a:t>
              </a:r>
              <a:endParaRPr b="0" i="0" sz="1867" u="none" cap="none" strike="noStrike">
                <a:solidFill>
                  <a:srgbClr val="FFE5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p5"/>
          <p:cNvSpPr txBox="1"/>
          <p:nvPr/>
        </p:nvSpPr>
        <p:spPr>
          <a:xfrm>
            <a:off x="2423373" y="4647209"/>
            <a:ext cx="3125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>
                <a:solidFill>
                  <a:srgbClr val="023558"/>
                </a:solidFill>
              </a:rPr>
              <a:t>Ajai Adithyan 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>
                <a:solidFill>
                  <a:srgbClr val="023558"/>
                </a:solidFill>
              </a:rPr>
              <a:t>Appas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>
                <a:solidFill>
                  <a:srgbClr val="023558"/>
                </a:solidFill>
              </a:rPr>
              <a:t>Iraianbu 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>
                <a:solidFill>
                  <a:srgbClr val="023558"/>
                </a:solidFill>
              </a:rPr>
              <a:t>Navinesh D</a:t>
            </a:r>
            <a:r>
              <a:rPr b="1" i="1" lang="en-IN" sz="1400" u="none" cap="none" strike="noStrike">
                <a:solidFill>
                  <a:srgbClr val="0235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6"/>
          <p:cNvGrpSpPr/>
          <p:nvPr/>
        </p:nvGrpSpPr>
        <p:grpSpPr>
          <a:xfrm>
            <a:off x="1894840" y="1516840"/>
            <a:ext cx="8402320" cy="4033672"/>
            <a:chOff x="2159836" y="1516840"/>
            <a:chExt cx="8402320" cy="4033672"/>
          </a:xfrm>
        </p:grpSpPr>
        <p:grpSp>
          <p:nvGrpSpPr>
            <p:cNvPr id="38" name="Google Shape;38;p6"/>
            <p:cNvGrpSpPr/>
            <p:nvPr/>
          </p:nvGrpSpPr>
          <p:grpSpPr>
            <a:xfrm>
              <a:off x="2159836" y="1608432"/>
              <a:ext cx="8402320" cy="3942080"/>
              <a:chOff x="2159836" y="1457960"/>
              <a:chExt cx="8402320" cy="3942080"/>
            </a:xfrm>
          </p:grpSpPr>
          <p:sp>
            <p:nvSpPr>
              <p:cNvPr id="39" name="Google Shape;39;p6"/>
              <p:cNvSpPr/>
              <p:nvPr/>
            </p:nvSpPr>
            <p:spPr>
              <a:xfrm>
                <a:off x="2159836" y="1457960"/>
                <a:ext cx="8402320" cy="3942080"/>
              </a:xfrm>
              <a:prstGeom prst="roundRect">
                <a:avLst>
                  <a:gd fmla="val 10997" name="adj"/>
                </a:avLst>
              </a:prstGeom>
              <a:solidFill>
                <a:srgbClr val="03497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67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6"/>
              <p:cNvSpPr txBox="1"/>
              <p:nvPr/>
            </p:nvSpPr>
            <p:spPr>
              <a:xfrm>
                <a:off x="2159836" y="4391210"/>
                <a:ext cx="840232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IN" sz="2400" u="none" cap="none" strike="noStrike">
                    <a:solidFill>
                      <a:srgbClr val="FFE500"/>
                    </a:solidFill>
                    <a:latin typeface="Arial"/>
                    <a:ea typeface="Arial"/>
                    <a:cs typeface="Arial"/>
                    <a:sym typeface="Arial"/>
                  </a:rPr>
                  <a:t>The content is curated from online/offline resources and used for educational purpose only.</a:t>
                </a:r>
                <a:endParaRPr/>
              </a:p>
            </p:txBody>
          </p:sp>
        </p:grpSp>
        <p:pic>
          <p:nvPicPr>
            <p:cNvPr descr="A blue sign with black background&#10;&#10;AI-generated content may be incorrect." id="41" name="Google Shape;41;p6"/>
            <p:cNvPicPr preferRelativeResize="0"/>
            <p:nvPr/>
          </p:nvPicPr>
          <p:blipFill rotWithShape="1">
            <a:blip r:embed="rId3">
              <a:alphaModFix/>
            </a:blip>
            <a:srcRect b="23453" l="9324" r="6756" t="20721"/>
            <a:stretch/>
          </p:blipFill>
          <p:spPr>
            <a:xfrm>
              <a:off x="2487153" y="1516840"/>
              <a:ext cx="7747686" cy="28991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yellow line with a black background&#10;&#10;AI-generated content may be incorrect." id="47" name="Google Shape;47;p7"/>
          <p:cNvPicPr preferRelativeResize="0"/>
          <p:nvPr/>
        </p:nvPicPr>
        <p:blipFill rotWithShape="1">
          <a:blip r:embed="rId3">
            <a:alphaModFix/>
          </a:blip>
          <a:srcRect b="30270" l="9820" r="9639" t="30090"/>
          <a:stretch/>
        </p:blipFill>
        <p:spPr>
          <a:xfrm>
            <a:off x="802675" y="1603289"/>
            <a:ext cx="10586649" cy="390782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/>
        </p:nvSpPr>
        <p:spPr>
          <a:xfrm>
            <a:off x="3167860" y="3251436"/>
            <a:ext cx="6918959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>
                <a:solidFill>
                  <a:srgbClr val="D5E3FF"/>
                </a:solidFill>
              </a:rPr>
              <a:t>INVENTORY MANAGEMENT SYSTEM</a:t>
            </a:r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5495063" y="2882104"/>
            <a:ext cx="2264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D5E3FF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5" name="Google Shape;55;p8"/>
          <p:cNvSpPr txBox="1"/>
          <p:nvPr/>
        </p:nvSpPr>
        <p:spPr>
          <a:xfrm>
            <a:off x="658936" y="1427013"/>
            <a:ext cx="5754564" cy="245221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System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Objectives Of Project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page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 Page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Enhancement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ight bulb with a black background&#10;&#10;Description automatically generated" id="56" name="Google Shape;56;p8"/>
          <p:cNvPicPr preferRelativeResize="0"/>
          <p:nvPr/>
        </p:nvPicPr>
        <p:blipFill rotWithShape="1">
          <a:blip r:embed="rId3">
            <a:alphaModFix/>
          </a:blip>
          <a:srcRect b="7473" l="7117" r="7294" t="5427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 i="0" sz="28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9"/>
          <p:cNvSpPr txBox="1"/>
          <p:nvPr/>
        </p:nvSpPr>
        <p:spPr>
          <a:xfrm>
            <a:off x="772288" y="1430875"/>
            <a:ext cx="9884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Manual inventory handling leads to errors in stock records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Difficulty in tracking product availability in real time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Stock overloading or shortage occurs due to poor monitoring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Purchase and sales records are maintained inefficiently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Managing expiry products and discounts becomes challenging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Overall business operations become slow and less accurate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63" name="Google Shape;63;p9"/>
          <p:cNvSpPr txBox="1"/>
          <p:nvPr/>
        </p:nvSpPr>
        <p:spPr>
          <a:xfrm>
            <a:off x="174709" y="3352477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Existing System</a:t>
            </a:r>
            <a:endParaRPr/>
          </a:p>
        </p:txBody>
      </p:sp>
      <p:sp>
        <p:nvSpPr>
          <p:cNvPr id="64" name="Google Shape;64;p9"/>
          <p:cNvSpPr txBox="1"/>
          <p:nvPr/>
        </p:nvSpPr>
        <p:spPr>
          <a:xfrm>
            <a:off x="772310" y="4041675"/>
            <a:ext cx="112815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Stock is managed manually using registers or spreadsheets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High chances of human error in product entry and billing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No centralized monitoring of inventory levels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Delay in updating stock after sales or purchases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Difficulty in generating reports and tracking expiry items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Limited support for modern payment and automation features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70" name="Google Shape;70;p10"/>
          <p:cNvSpPr txBox="1"/>
          <p:nvPr/>
        </p:nvSpPr>
        <p:spPr>
          <a:xfrm>
            <a:off x="725989" y="2012870"/>
            <a:ext cx="92862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The main objective of this project is to develop an Inventory Management System that helps businesses manage stock efficiently and accurately.</a:t>
            </a:r>
            <a:br>
              <a:rPr lang="en-IN" sz="2000"/>
            </a:br>
            <a:r>
              <a:rPr lang="en-IN" sz="2000"/>
              <a:t> The system aims to reduce manual work, minimize errors, and provide real-time updates of product availability.</a:t>
            </a:r>
            <a:endParaRPr sz="20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It also focuses on implementing a role-based platform where administrators can manage products, staff can handle sales and purchases, and the system can generate detailed reports.</a:t>
            </a:r>
            <a:br>
              <a:rPr lang="en-IN" sz="2000"/>
            </a:br>
            <a:r>
              <a:rPr lang="en-IN" sz="2000"/>
              <a:t> The project improves operational efficiency, reduces product wastage, and provides a scalable solution for modern retail and warehouse environments.</a:t>
            </a:r>
            <a:endParaRPr sz="2000"/>
          </a:p>
          <a:p>
            <a:pPr indent="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76" name="Google Shape;76;p11"/>
          <p:cNvSpPr txBox="1"/>
          <p:nvPr/>
        </p:nvSpPr>
        <p:spPr>
          <a:xfrm>
            <a:off x="725988" y="1997839"/>
            <a:ext cx="93903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The Inventory Management System is designed to provide a digital solution for managing products, stock levels, purchases, and sales in an organized way.</a:t>
            </a:r>
            <a:br>
              <a:rPr lang="en-IN" sz="2000"/>
            </a:br>
            <a:r>
              <a:rPr lang="en-IN" sz="2000"/>
              <a:t>It replaces traditional manual inventory tracking with an automated platform that ensures accurate stock monitoring.</a:t>
            </a:r>
            <a:endParaRPr sz="20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The system allows administrators to manage product categories, suppliers, purchases, and expiry-based offers through a centralized dashboard.</a:t>
            </a:r>
            <a:br>
              <a:rPr lang="en-IN" sz="2000"/>
            </a:br>
            <a:r>
              <a:rPr lang="en-IN" sz="2000"/>
              <a:t> It is developed using Django framework with modern frontend technologies to ensure a responsive and user-friendly experience.</a:t>
            </a:r>
            <a:endParaRPr sz="2000"/>
          </a:p>
          <a:p>
            <a:pPr indent="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/>
          </a:p>
        </p:txBody>
      </p:sp>
      <p:sp>
        <p:nvSpPr>
          <p:cNvPr id="82" name="Google Shape;82;p12"/>
          <p:cNvSpPr txBox="1"/>
          <p:nvPr/>
        </p:nvSpPr>
        <p:spPr>
          <a:xfrm>
            <a:off x="766939" y="1427582"/>
            <a:ext cx="74019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ardware Requirements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Processor: Intel i3 or above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RAM: Minimum 4 GB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Hard Disk: Minimum 50 GB free space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Device: Desktop / Laptop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Internet connection required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Requirements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Operating System: Windows / Linux / macOS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Frontend: HTML, CSS, JavaScript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Backend: Python 3.8 or higher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Framework: Django 5.0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Database: MySQL 8.0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Web Browser: Chrome / Edge / Firefox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40244" y="1488370"/>
            <a:ext cx="88878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Authentication &amp; User Interface Module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Secure login for Admin and Staff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Responsive and user-friendly interface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Role Management Module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Permissions based on roles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Separate dashboards for admin and staff</a:t>
            </a:r>
            <a:endParaRPr sz="2000"/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/>
              <a:t>Product &amp; Category Management Module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Add, update, and organize products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Categorize items for easy access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/>
              <a:t>Stock Monitoring Module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Real-time stock updates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Low stock and availability alerts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705520" y="1060107"/>
            <a:ext cx="88878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Management Module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Supplier details and purchase invoices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Stock replenishment tracking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/>
              <a:t>Sales &amp; Billing Module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Sales transactions and invoice generation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Automatic stock reduction after sales</a:t>
            </a:r>
            <a:endParaRPr sz="2000"/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/>
              <a:t>Payment Processing Module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Supports cash and online payments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Secure transaction recording</a:t>
            </a:r>
            <a:endParaRPr sz="2000"/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/>
              <a:t>Offers &amp; Near Expiry Module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Detect expiry products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Apply discounts to reduce wastage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679095" y="1416382"/>
            <a:ext cx="88878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/>
              <a:t>Reports &amp; Analytics Module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Daily/monthly sales reports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Stock summary and performance insights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/>
              <a:t>Chatbot Assistance Module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Provides instant support for users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Helps in checking product availability and offers</a:t>
            </a:r>
            <a:endParaRPr sz="2000"/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Home Page</a:t>
            </a:r>
            <a:endParaRPr/>
          </a:p>
        </p:txBody>
      </p:sp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00" y="1569150"/>
            <a:ext cx="10557875" cy="4831651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2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Login Page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500" y="1542725"/>
            <a:ext cx="10706996" cy="493735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2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750" y="1458825"/>
            <a:ext cx="10452176" cy="4849724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2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Future Enhancement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801663" y="1861595"/>
            <a:ext cx="93450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Barcode scanning integration for faster billing</a:t>
            </a:r>
            <a:br>
              <a:rPr lang="en-I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AI-based demand prediction for smart stock planning</a:t>
            </a:r>
            <a:br>
              <a:rPr lang="en-I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Mobile application development</a:t>
            </a:r>
            <a:br>
              <a:rPr lang="en-I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Advanced analytics dashboard with graphs</a:t>
            </a:r>
            <a:br>
              <a:rPr lang="en-I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Online supplier and customer portal integration</a:t>
            </a:r>
            <a:br>
              <a:rPr lang="en-I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 sz="2000"/>
              <a:t>Automated email/SMS alerts for low stock and expiry items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814888" y="1861595"/>
            <a:ext cx="93450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3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The Inventory Management System provides an efficient solution for managing stock, purchases, sales, and payments digitally. It reduces manual effort, improves accuracy, and ensures real-time monitoring of inventory.</a:t>
            </a:r>
            <a:endParaRPr sz="2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3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The system helps businesses minimize product wastage through expiry-based offers and provides better decision-making using reports and analytics.</a:t>
            </a:r>
            <a:br>
              <a:rPr lang="en-IN" sz="2000"/>
            </a:br>
            <a:r>
              <a:rPr lang="en-IN" sz="2000"/>
              <a:t> With its scalable and user-friendly design, it offers a reliable platform for modern inventory operations.</a:t>
            </a:r>
            <a:endParaRPr sz="2000"/>
          </a:p>
          <a:p>
            <a:pPr indent="0" lvl="0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/>
          </a:p>
        </p:txBody>
      </p:sp>
      <p:sp>
        <p:nvSpPr>
          <p:cNvPr id="138" name="Google Shape;138;p21"/>
          <p:cNvSpPr txBox="1"/>
          <p:nvPr/>
        </p:nvSpPr>
        <p:spPr>
          <a:xfrm>
            <a:off x="814888" y="1861595"/>
            <a:ext cx="93450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3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https://docs.djangoproject.com/en/stable/</a:t>
            </a:r>
            <a:endParaRPr/>
          </a:p>
          <a:p>
            <a:pPr indent="0" lvl="0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3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https://www.python.org/doc/</a:t>
            </a:r>
            <a:endParaRPr sz="2000"/>
          </a:p>
          <a:p>
            <a:pPr indent="0" lvl="0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3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https://dev.mysql.com/doc/</a:t>
            </a:r>
            <a:endParaRPr sz="2000"/>
          </a:p>
          <a:p>
            <a:pPr indent="0" lvl="0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3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https://developer.mozilla.org/</a:t>
            </a:r>
            <a:endParaRPr sz="2000"/>
          </a:p>
          <a:p>
            <a:pPr indent="0" lvl="0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3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https://www.w3schools.com/</a:t>
            </a:r>
            <a:endParaRPr sz="2000"/>
          </a:p>
          <a:p>
            <a:pPr indent="0" lvl="0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3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https://getbotstrap.com/docs</a:t>
            </a:r>
            <a:endParaRPr sz="2000"/>
          </a:p>
          <a:p>
            <a:pPr indent="0" lvl="0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3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/>
              <a:t>https://owasp.org/www-community/attacks/csrf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